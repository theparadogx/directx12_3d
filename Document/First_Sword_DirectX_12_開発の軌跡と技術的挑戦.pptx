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1950858" y="1143000"/>
            <a:ext cx="5242257" cy="2857500"/>
          </a:xfrm>
          <a:prstGeom prst="rect">
            <a:avLst/>
          </a:prstGeom>
          <a:solidFill>
            <a:srgbClr val="0D1117">
              <a:alpha val="90000"/>
            </a:srgbClr>
          </a:solidFill>
          <a:ln w="18288">
            <a:solidFill>
              <a:srgbClr val="58A6FF"/>
            </a:solidFill>
            <a:prstDash val="solid"/>
          </a:ln>
        </p:spPr>
      </p:sp>
      <p:sp>
        <p:nvSpPr>
          <p:cNvPr id="4" name="Text 1"/>
          <p:cNvSpPr/>
          <p:nvPr/>
        </p:nvSpPr>
        <p:spPr>
          <a:xfrm>
            <a:off x="2536645" y="2086812"/>
            <a:ext cx="4070682" cy="700088"/>
          </a:xfrm>
          <a:prstGeom prst="rect">
            <a:avLst/>
          </a:prstGeom>
          <a:noFill/>
          <a:ln/>
        </p:spPr>
        <p:txBody>
          <a:bodyPr wrap="none" lIns="0" tIns="0" rIns="0" bIns="0" rtlCol="0" anchor="t">
            <a:spAutoFit/>
          </a:bodyPr>
          <a:lstStyle/>
          <a:p>
            <a:pPr algn="ctr" indent="0" marL="0">
              <a:lnSpc>
                <a:spcPts val="4900"/>
              </a:lnSpc>
              <a:buNone/>
            </a:pPr>
            <a:r>
              <a:rPr lang="en-US" sz="3731" b="1" spc="6" kern="0" dirty="0">
                <a:solidFill>
                  <a:srgbClr val="58A6FF"/>
                </a:solidFill>
              </a:rPr>
              <a:t>FIRST SWORD</a:t>
            </a:r>
            <a:endParaRPr lang="en-US" sz="3731" dirty="0"/>
          </a:p>
        </p:txBody>
      </p:sp>
      <p:sp>
        <p:nvSpPr>
          <p:cNvPr id="5" name="Text 2"/>
          <p:cNvSpPr/>
          <p:nvPr/>
        </p:nvSpPr>
        <p:spPr>
          <a:xfrm>
            <a:off x="2536645" y="2929775"/>
            <a:ext cx="4070682" cy="289322"/>
          </a:xfrm>
          <a:prstGeom prst="rect">
            <a:avLst/>
          </a:prstGeom>
          <a:noFill/>
          <a:ln/>
        </p:spPr>
        <p:txBody>
          <a:bodyPr wrap="none" lIns="0" tIns="0" rIns="0" bIns="0" rtlCol="0" anchor="t">
            <a:spAutoFit/>
          </a:bodyPr>
          <a:lstStyle/>
          <a:p>
            <a:pPr algn="ctr" indent="0" marL="0">
              <a:lnSpc>
                <a:spcPts val="1900"/>
              </a:lnSpc>
              <a:buNone/>
            </a:pPr>
            <a:r>
              <a:rPr lang="en-US" sz="1486" spc="3" kern="0" dirty="0">
                <a:solidFill>
                  <a:srgbClr val="C9D1D9"/>
                </a:solidFill>
              </a:rPr>
              <a:t>DirectX 12 開発の軌跡と技術的挑戦</a:t>
            </a:r>
            <a:endParaRPr lang="en-US" sz="1486" dirty="0"/>
          </a:p>
        </p:txBody>
      </p:sp>
      <p:sp>
        <p:nvSpPr>
          <p:cNvPr id="6" name="Text 3"/>
          <p:cNvSpPr/>
          <p:nvPr/>
        </p:nvSpPr>
        <p:spPr>
          <a:xfrm>
            <a:off x="2536645" y="3504847"/>
            <a:ext cx="4070682" cy="325041"/>
          </a:xfrm>
          <a:prstGeom prst="rect">
            <a:avLst/>
          </a:prstGeom>
          <a:noFill/>
          <a:ln/>
        </p:spPr>
        <p:txBody>
          <a:bodyPr wrap="square" lIns="0" tIns="170053" rIns="0" bIns="0" rtlCol="0" anchor="t">
            <a:spAutoFit/>
          </a:bodyPr>
          <a:lstStyle/>
          <a:p>
            <a:pPr algn="ctr" indent="0" marL="0">
              <a:lnSpc>
                <a:spcPts val="1200"/>
              </a:lnSpc>
              <a:buNone/>
            </a:pPr>
            <a:r>
              <a:rPr lang="en-US" sz="942" dirty="0">
                <a:solidFill>
                  <a:srgbClr val="58A6FF"/>
                </a:solidFill>
              </a:rPr>
              <a:t>5 WEEKS LEARNING &amp; DEVELOPMENT PROJECT</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42072"/>
            <a:ext cx="8572500" cy="373261"/>
          </a:xfrm>
          <a:prstGeom prst="rect">
            <a:avLst/>
          </a:prstGeom>
          <a:noFill/>
          <a:ln/>
        </p:spPr>
        <p:txBody>
          <a:bodyPr wrap="none" lIns="170053" tIns="0" rIns="0" bIns="0" rtlCol="0" anchor="t">
            <a:spAutoFit/>
          </a:bodyPr>
          <a:lstStyle/>
          <a:p>
            <a:pPr algn="l" indent="0" marL="0">
              <a:lnSpc>
                <a:spcPts val="2400"/>
              </a:lnSpc>
              <a:buNone/>
            </a:pPr>
            <a:r>
              <a:rPr lang="en-US" sz="1808" b="1" spc="2" kern="0" dirty="0">
                <a:solidFill>
                  <a:srgbClr val="FFFFFF"/>
                </a:solidFill>
              </a:rPr>
              <a:t>DirectX 12 学習と描画基盤の構築</a:t>
            </a:r>
            <a:endParaRPr lang="en-US" sz="1808" dirty="0"/>
          </a:p>
        </p:txBody>
      </p:sp>
      <p:sp>
        <p:nvSpPr>
          <p:cNvPr id="4" name="Text 1"/>
          <p:cNvSpPr/>
          <p:nvPr/>
        </p:nvSpPr>
        <p:spPr>
          <a:xfrm>
            <a:off x="571500" y="1443958"/>
            <a:ext cx="3714750" cy="176272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FFFFFF"/>
                </a:solidFill>
              </a:rPr>
              <a:t>開発の初期段階は、DirectX 12の複雑な初期化処理やリソース管理の学習に費やされました。コマンドリストの生成やパイプラインステートの構築など、DX12の基本サイクルを確実に動作させることを最優先事項としています。エフェクト等の装飾を削ぎ落とし、純粋な描画基盤の確立に注力しました。</a:t>
            </a:r>
            <a:endParaRPr lang="en-US" sz="1050" dirty="0"/>
          </a:p>
        </p:txBody>
      </p:sp>
      <p:sp>
        <p:nvSpPr>
          <p:cNvPr id="5" name="Text 2"/>
          <p:cNvSpPr/>
          <p:nvPr/>
        </p:nvSpPr>
        <p:spPr>
          <a:xfrm>
            <a:off x="4857750" y="1629696"/>
            <a:ext cx="3714750"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Execution Model</a:t>
            </a:r>
            <a:endParaRPr lang="en-US" sz="727" dirty="0"/>
          </a:p>
        </p:txBody>
      </p:sp>
      <p:sp>
        <p:nvSpPr>
          <p:cNvPr id="6" name="Text 3"/>
          <p:cNvSpPr/>
          <p:nvPr/>
        </p:nvSpPr>
        <p:spPr>
          <a:xfrm>
            <a:off x="4857750" y="1836865"/>
            <a:ext cx="371475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Single-Threaded Implementation</a:t>
            </a:r>
            <a:endParaRPr lang="en-US" sz="987" dirty="0"/>
          </a:p>
        </p:txBody>
      </p:sp>
      <p:sp>
        <p:nvSpPr>
          <p:cNvPr id="7" name="Text 4"/>
          <p:cNvSpPr/>
          <p:nvPr/>
        </p:nvSpPr>
        <p:spPr>
          <a:xfrm>
            <a:off x="4857750" y="2217269"/>
            <a:ext cx="3714750"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Core Focus</a:t>
            </a:r>
            <a:endParaRPr lang="en-US" sz="727" dirty="0"/>
          </a:p>
        </p:txBody>
      </p:sp>
      <p:sp>
        <p:nvSpPr>
          <p:cNvPr id="8" name="Text 5"/>
          <p:cNvSpPr/>
          <p:nvPr/>
        </p:nvSpPr>
        <p:spPr>
          <a:xfrm>
            <a:off x="4857750" y="2424438"/>
            <a:ext cx="371475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API Specification Learning</a:t>
            </a:r>
            <a:endParaRPr lang="en-US" sz="987" dirty="0"/>
          </a:p>
        </p:txBody>
      </p:sp>
      <p:sp>
        <p:nvSpPr>
          <p:cNvPr id="9" name="Text 6"/>
          <p:cNvSpPr/>
          <p:nvPr/>
        </p:nvSpPr>
        <p:spPr>
          <a:xfrm>
            <a:off x="4857750" y="2804843"/>
            <a:ext cx="3714750"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Visual Status</a:t>
            </a:r>
            <a:endParaRPr lang="en-US" sz="727" dirty="0"/>
          </a:p>
        </p:txBody>
      </p:sp>
      <p:sp>
        <p:nvSpPr>
          <p:cNvPr id="10" name="Text 7"/>
          <p:cNvSpPr/>
          <p:nvPr/>
        </p:nvSpPr>
        <p:spPr>
          <a:xfrm>
            <a:off x="4857750" y="3012011"/>
            <a:ext cx="371475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rPr>
              <a:t>Minimal Rendering (No Effects)</a:t>
            </a:r>
            <a:endParaRPr lang="en-US" sz="98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42072"/>
            <a:ext cx="8572500" cy="373261"/>
          </a:xfrm>
          <a:prstGeom prst="rect">
            <a:avLst/>
          </a:prstGeom>
          <a:noFill/>
          <a:ln/>
        </p:spPr>
        <p:txBody>
          <a:bodyPr wrap="none" lIns="170053" tIns="0" rIns="0" bIns="0" rtlCol="0" anchor="t">
            <a:spAutoFit/>
          </a:bodyPr>
          <a:lstStyle/>
          <a:p>
            <a:pPr algn="l" indent="0" marL="0">
              <a:lnSpc>
                <a:spcPts val="2400"/>
              </a:lnSpc>
              <a:buNone/>
            </a:pPr>
            <a:r>
              <a:rPr lang="en-US" sz="1808" b="1" spc="2" kern="0" dirty="0">
                <a:solidFill>
                  <a:srgbClr val="FFFFFF"/>
                </a:solidFill>
              </a:rPr>
              <a:t>5週間の学習・開発ロードマップ</a:t>
            </a:r>
            <a:endParaRPr lang="en-US" sz="1808" dirty="0"/>
          </a:p>
        </p:txBody>
      </p:sp>
      <p:sp>
        <p:nvSpPr>
          <p:cNvPr id="4" name="Shape 1"/>
          <p:cNvSpPr/>
          <p:nvPr/>
        </p:nvSpPr>
        <p:spPr>
          <a:xfrm>
            <a:off x="571500" y="1443958"/>
            <a:ext cx="1600200" cy="310753"/>
          </a:xfrm>
          <a:prstGeom prst="rect">
            <a:avLst/>
          </a:prstGeom>
          <a:solidFill>
            <a:srgbClr val="58A6FF">
              <a:alpha val="10000"/>
            </a:srgbClr>
          </a:solidFill>
          <a:ln/>
        </p:spPr>
      </p:sp>
      <p:sp>
        <p:nvSpPr>
          <p:cNvPr id="5" name="Shape 2"/>
          <p:cNvSpPr/>
          <p:nvPr/>
        </p:nvSpPr>
        <p:spPr>
          <a:xfrm>
            <a:off x="571500" y="1740424"/>
            <a:ext cx="1600200" cy="14288"/>
          </a:xfrm>
          <a:prstGeom prst="rect">
            <a:avLst/>
          </a:prstGeom>
          <a:solidFill>
            <a:srgbClr val="58A6FF"/>
          </a:solidFill>
          <a:ln/>
        </p:spPr>
      </p:sp>
      <p:sp>
        <p:nvSpPr>
          <p:cNvPr id="6" name="Text 3"/>
          <p:cNvSpPr/>
          <p:nvPr/>
        </p:nvSpPr>
        <p:spPr>
          <a:xfrm>
            <a:off x="571500" y="1443958"/>
            <a:ext cx="1600200" cy="310753"/>
          </a:xfrm>
          <a:prstGeom prst="rect">
            <a:avLst/>
          </a:prstGeom>
          <a:noFill/>
          <a:ln/>
        </p:spPr>
        <p:txBody>
          <a:bodyPr wrap="square" lIns="170053" tIns="127508" rIns="8509" bIns="8509" rtlCol="0" anchor="ctr">
            <a:spAutoFit/>
          </a:bodyPr>
          <a:lstStyle/>
          <a:p>
            <a:pPr algn="l" indent="0" marL="0">
              <a:lnSpc>
                <a:spcPts val="1200"/>
              </a:lnSpc>
              <a:buNone/>
            </a:pPr>
            <a:r>
              <a:rPr lang="en-US" sz="885" b="1" spc="1" kern="0" dirty="0">
                <a:solidFill>
                  <a:srgbClr val="58A6FF"/>
                </a:solidFill>
              </a:rPr>
              <a:t>期間</a:t>
            </a:r>
            <a:endParaRPr lang="en-US" sz="885" dirty="0"/>
          </a:p>
        </p:txBody>
      </p:sp>
      <p:sp>
        <p:nvSpPr>
          <p:cNvPr id="7" name="Shape 4"/>
          <p:cNvSpPr/>
          <p:nvPr/>
        </p:nvSpPr>
        <p:spPr>
          <a:xfrm>
            <a:off x="2171700" y="1443958"/>
            <a:ext cx="2000250" cy="310753"/>
          </a:xfrm>
          <a:prstGeom prst="rect">
            <a:avLst/>
          </a:prstGeom>
          <a:solidFill>
            <a:srgbClr val="58A6FF">
              <a:alpha val="10000"/>
            </a:srgbClr>
          </a:solidFill>
          <a:ln/>
        </p:spPr>
      </p:sp>
      <p:sp>
        <p:nvSpPr>
          <p:cNvPr id="8" name="Shape 5"/>
          <p:cNvSpPr/>
          <p:nvPr/>
        </p:nvSpPr>
        <p:spPr>
          <a:xfrm>
            <a:off x="2171700" y="1740424"/>
            <a:ext cx="2000250" cy="14288"/>
          </a:xfrm>
          <a:prstGeom prst="rect">
            <a:avLst/>
          </a:prstGeom>
          <a:solidFill>
            <a:srgbClr val="58A6FF"/>
          </a:solidFill>
          <a:ln/>
        </p:spPr>
      </p:sp>
      <p:sp>
        <p:nvSpPr>
          <p:cNvPr id="9" name="Text 6"/>
          <p:cNvSpPr/>
          <p:nvPr/>
        </p:nvSpPr>
        <p:spPr>
          <a:xfrm>
            <a:off x="2171700" y="1443958"/>
            <a:ext cx="2000250" cy="310753"/>
          </a:xfrm>
          <a:prstGeom prst="rect">
            <a:avLst/>
          </a:prstGeom>
          <a:noFill/>
          <a:ln/>
        </p:spPr>
        <p:txBody>
          <a:bodyPr wrap="square" lIns="170053" tIns="127508" rIns="8509" bIns="8509" rtlCol="0" anchor="ctr">
            <a:spAutoFit/>
          </a:bodyPr>
          <a:lstStyle/>
          <a:p>
            <a:pPr algn="l" indent="0" marL="0">
              <a:lnSpc>
                <a:spcPts val="1200"/>
              </a:lnSpc>
              <a:buNone/>
            </a:pPr>
            <a:r>
              <a:rPr lang="en-US" sz="885" b="1" spc="1" kern="0" dirty="0">
                <a:solidFill>
                  <a:srgbClr val="58A6FF"/>
                </a:solidFill>
              </a:rPr>
              <a:t>開発フェーズ</a:t>
            </a:r>
            <a:endParaRPr lang="en-US" sz="885" dirty="0"/>
          </a:p>
        </p:txBody>
      </p:sp>
      <p:sp>
        <p:nvSpPr>
          <p:cNvPr id="10" name="Shape 7"/>
          <p:cNvSpPr/>
          <p:nvPr/>
        </p:nvSpPr>
        <p:spPr>
          <a:xfrm>
            <a:off x="4171950" y="1443958"/>
            <a:ext cx="4400550" cy="310753"/>
          </a:xfrm>
          <a:prstGeom prst="rect">
            <a:avLst/>
          </a:prstGeom>
          <a:solidFill>
            <a:srgbClr val="58A6FF">
              <a:alpha val="10000"/>
            </a:srgbClr>
          </a:solidFill>
          <a:ln/>
        </p:spPr>
      </p:sp>
      <p:sp>
        <p:nvSpPr>
          <p:cNvPr id="11" name="Shape 8"/>
          <p:cNvSpPr/>
          <p:nvPr/>
        </p:nvSpPr>
        <p:spPr>
          <a:xfrm>
            <a:off x="4171950" y="1740424"/>
            <a:ext cx="4400550" cy="14288"/>
          </a:xfrm>
          <a:prstGeom prst="rect">
            <a:avLst/>
          </a:prstGeom>
          <a:solidFill>
            <a:srgbClr val="58A6FF"/>
          </a:solidFill>
          <a:ln/>
        </p:spPr>
      </p:sp>
      <p:sp>
        <p:nvSpPr>
          <p:cNvPr id="12" name="Text 9"/>
          <p:cNvSpPr/>
          <p:nvPr/>
        </p:nvSpPr>
        <p:spPr>
          <a:xfrm>
            <a:off x="4171950" y="1443958"/>
            <a:ext cx="4400550" cy="310753"/>
          </a:xfrm>
          <a:prstGeom prst="rect">
            <a:avLst/>
          </a:prstGeom>
          <a:noFill/>
          <a:ln/>
        </p:spPr>
        <p:txBody>
          <a:bodyPr wrap="square" lIns="170053" tIns="127508" rIns="8509" bIns="8509" rtlCol="0" anchor="ctr">
            <a:spAutoFit/>
          </a:bodyPr>
          <a:lstStyle/>
          <a:p>
            <a:pPr algn="l" indent="0" marL="0">
              <a:lnSpc>
                <a:spcPts val="1200"/>
              </a:lnSpc>
              <a:buNone/>
            </a:pPr>
            <a:r>
              <a:rPr lang="en-US" sz="885" b="1" spc="1" kern="0" dirty="0">
                <a:solidFill>
                  <a:srgbClr val="58A6FF"/>
                </a:solidFill>
              </a:rPr>
              <a:t>主な内容</a:t>
            </a:r>
            <a:endParaRPr lang="en-US" sz="885" dirty="0"/>
          </a:p>
        </p:txBody>
      </p:sp>
      <p:sp>
        <p:nvSpPr>
          <p:cNvPr id="13" name="Text 10"/>
          <p:cNvSpPr/>
          <p:nvPr/>
        </p:nvSpPr>
        <p:spPr>
          <a:xfrm>
            <a:off x="571500" y="1747568"/>
            <a:ext cx="1600200" cy="342900"/>
          </a:xfrm>
          <a:prstGeom prst="rect">
            <a:avLst/>
          </a:prstGeom>
          <a:noFill/>
          <a:ln/>
        </p:spPr>
        <p:txBody>
          <a:bodyPr wrap="square" lIns="170053" tIns="170053" rIns="8509" bIns="8509" rtlCol="0" anchor="ctr">
            <a:spAutoFit/>
          </a:bodyPr>
          <a:lstStyle/>
          <a:p>
            <a:pPr algn="l" indent="0" marL="0">
              <a:lnSpc>
                <a:spcPts val="1200"/>
              </a:lnSpc>
              <a:buNone/>
            </a:pPr>
            <a:r>
              <a:rPr lang="en-US" sz="885" b="1" dirty="0">
                <a:solidFill>
                  <a:srgbClr val="FFFFFF"/>
                </a:solidFill>
              </a:rPr>
              <a:t>第1-2週</a:t>
            </a:r>
            <a:endParaRPr lang="en-US" sz="885" dirty="0"/>
          </a:p>
        </p:txBody>
      </p:sp>
      <p:sp>
        <p:nvSpPr>
          <p:cNvPr id="14" name="Text 11"/>
          <p:cNvSpPr/>
          <p:nvPr/>
        </p:nvSpPr>
        <p:spPr>
          <a:xfrm>
            <a:off x="2171700" y="1747568"/>
            <a:ext cx="2000250" cy="342900"/>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58A6FF"/>
                </a:solidFill>
              </a:rPr>
              <a:t>DX12学習・初期化</a:t>
            </a:r>
            <a:endParaRPr lang="en-US" sz="942" dirty="0"/>
          </a:p>
        </p:txBody>
      </p:sp>
      <p:sp>
        <p:nvSpPr>
          <p:cNvPr id="15" name="Text 12"/>
          <p:cNvSpPr/>
          <p:nvPr/>
        </p:nvSpPr>
        <p:spPr>
          <a:xfrm>
            <a:off x="4171950" y="1747568"/>
            <a:ext cx="4400550" cy="342900"/>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C9D1D9"/>
                </a:solidFill>
              </a:rPr>
              <a:t>API仕様の理解、デバイス生成、スワップチェーン構築</a:t>
            </a:r>
            <a:endParaRPr lang="en-US" sz="942" dirty="0"/>
          </a:p>
        </p:txBody>
      </p:sp>
      <p:sp>
        <p:nvSpPr>
          <p:cNvPr id="16" name="Text 13"/>
          <p:cNvSpPr/>
          <p:nvPr/>
        </p:nvSpPr>
        <p:spPr>
          <a:xfrm>
            <a:off x="571500" y="2090468"/>
            <a:ext cx="1600200" cy="346472"/>
          </a:xfrm>
          <a:prstGeom prst="rect">
            <a:avLst/>
          </a:prstGeom>
          <a:noFill/>
          <a:ln/>
        </p:spPr>
        <p:txBody>
          <a:bodyPr wrap="square" lIns="170053" tIns="170053" rIns="8509" bIns="8509" rtlCol="0" anchor="ctr">
            <a:spAutoFit/>
          </a:bodyPr>
          <a:lstStyle/>
          <a:p>
            <a:pPr algn="l" indent="0" marL="0">
              <a:lnSpc>
                <a:spcPts val="1200"/>
              </a:lnSpc>
              <a:buNone/>
            </a:pPr>
            <a:r>
              <a:rPr lang="en-US" sz="885" b="1" dirty="0">
                <a:solidFill>
                  <a:srgbClr val="FFFFFF"/>
                </a:solidFill>
              </a:rPr>
              <a:t>第3週</a:t>
            </a:r>
            <a:endParaRPr lang="en-US" sz="885" dirty="0"/>
          </a:p>
        </p:txBody>
      </p:sp>
      <p:sp>
        <p:nvSpPr>
          <p:cNvPr id="17" name="Text 14"/>
          <p:cNvSpPr/>
          <p:nvPr/>
        </p:nvSpPr>
        <p:spPr>
          <a:xfrm>
            <a:off x="2171700" y="2090468"/>
            <a:ext cx="2000250" cy="346472"/>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58A6FF"/>
                </a:solidFill>
              </a:rPr>
              <a:t>描画パスの実装</a:t>
            </a:r>
            <a:endParaRPr lang="en-US" sz="942" dirty="0"/>
          </a:p>
        </p:txBody>
      </p:sp>
      <p:sp>
        <p:nvSpPr>
          <p:cNvPr id="18" name="Text 15"/>
          <p:cNvSpPr/>
          <p:nvPr/>
        </p:nvSpPr>
        <p:spPr>
          <a:xfrm>
            <a:off x="4171950" y="2090468"/>
            <a:ext cx="4400550" cy="346472"/>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C9D1D9"/>
                </a:solidFill>
              </a:rPr>
              <a:t>定数バッファ、ルートシグネチャ、シェーダ動作確認</a:t>
            </a:r>
            <a:endParaRPr lang="en-US" sz="942" dirty="0"/>
          </a:p>
        </p:txBody>
      </p:sp>
      <p:sp>
        <p:nvSpPr>
          <p:cNvPr id="19" name="Text 16"/>
          <p:cNvSpPr/>
          <p:nvPr/>
        </p:nvSpPr>
        <p:spPr>
          <a:xfrm>
            <a:off x="571500" y="2436940"/>
            <a:ext cx="1600200" cy="346472"/>
          </a:xfrm>
          <a:prstGeom prst="rect">
            <a:avLst/>
          </a:prstGeom>
          <a:noFill/>
          <a:ln/>
        </p:spPr>
        <p:txBody>
          <a:bodyPr wrap="square" lIns="170053" tIns="170053" rIns="8509" bIns="8509" rtlCol="0" anchor="ctr">
            <a:spAutoFit/>
          </a:bodyPr>
          <a:lstStyle/>
          <a:p>
            <a:pPr algn="l" indent="0" marL="0">
              <a:lnSpc>
                <a:spcPts val="1200"/>
              </a:lnSpc>
              <a:buNone/>
            </a:pPr>
            <a:r>
              <a:rPr lang="en-US" sz="885" b="1" dirty="0">
                <a:solidFill>
                  <a:srgbClr val="FFFFFF"/>
                </a:solidFill>
              </a:rPr>
              <a:t>第4週</a:t>
            </a:r>
            <a:endParaRPr lang="en-US" sz="885" dirty="0"/>
          </a:p>
        </p:txBody>
      </p:sp>
      <p:sp>
        <p:nvSpPr>
          <p:cNvPr id="20" name="Text 17"/>
          <p:cNvSpPr/>
          <p:nvPr/>
        </p:nvSpPr>
        <p:spPr>
          <a:xfrm>
            <a:off x="2171700" y="2436940"/>
            <a:ext cx="2000250" cy="346472"/>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58A6FF"/>
                </a:solidFill>
              </a:rPr>
              <a:t>アクション実装</a:t>
            </a:r>
            <a:endParaRPr lang="en-US" sz="942" dirty="0"/>
          </a:p>
        </p:txBody>
      </p:sp>
      <p:sp>
        <p:nvSpPr>
          <p:cNvPr id="21" name="Text 18"/>
          <p:cNvSpPr/>
          <p:nvPr/>
        </p:nvSpPr>
        <p:spPr>
          <a:xfrm>
            <a:off x="4171950" y="2436940"/>
            <a:ext cx="4400550" cy="346472"/>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C9D1D9"/>
                </a:solidFill>
              </a:rPr>
              <a:t>3Dモデル表示、移動慣性を含む基本ロジックの実装</a:t>
            </a:r>
            <a:endParaRPr lang="en-US" sz="942" dirty="0"/>
          </a:p>
        </p:txBody>
      </p:sp>
      <p:sp>
        <p:nvSpPr>
          <p:cNvPr id="22" name="Text 19"/>
          <p:cNvSpPr/>
          <p:nvPr/>
        </p:nvSpPr>
        <p:spPr>
          <a:xfrm>
            <a:off x="571500" y="2783411"/>
            <a:ext cx="1600200" cy="346472"/>
          </a:xfrm>
          <a:prstGeom prst="rect">
            <a:avLst/>
          </a:prstGeom>
          <a:noFill/>
          <a:ln/>
        </p:spPr>
        <p:txBody>
          <a:bodyPr wrap="square" lIns="170053" tIns="170053" rIns="8509" bIns="8509" rtlCol="0" anchor="ctr">
            <a:spAutoFit/>
          </a:bodyPr>
          <a:lstStyle/>
          <a:p>
            <a:pPr algn="l" indent="0" marL="0">
              <a:lnSpc>
                <a:spcPts val="1200"/>
              </a:lnSpc>
              <a:buNone/>
            </a:pPr>
            <a:r>
              <a:rPr lang="en-US" sz="885" b="1" dirty="0">
                <a:solidFill>
                  <a:srgbClr val="FFFFFF"/>
                </a:solidFill>
              </a:rPr>
              <a:t>第5週</a:t>
            </a:r>
            <a:endParaRPr lang="en-US" sz="885" dirty="0"/>
          </a:p>
        </p:txBody>
      </p:sp>
      <p:sp>
        <p:nvSpPr>
          <p:cNvPr id="23" name="Text 20"/>
          <p:cNvSpPr/>
          <p:nvPr/>
        </p:nvSpPr>
        <p:spPr>
          <a:xfrm>
            <a:off x="2171700" y="2783411"/>
            <a:ext cx="2000250" cy="346472"/>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58A6FF"/>
                </a:solidFill>
              </a:rPr>
              <a:t>最適化と課題整理</a:t>
            </a:r>
            <a:endParaRPr lang="en-US" sz="942" dirty="0"/>
          </a:p>
        </p:txBody>
      </p:sp>
      <p:sp>
        <p:nvSpPr>
          <p:cNvPr id="24" name="Text 21"/>
          <p:cNvSpPr/>
          <p:nvPr/>
        </p:nvSpPr>
        <p:spPr>
          <a:xfrm>
            <a:off x="4171950" y="2783411"/>
            <a:ext cx="4400550" cy="346472"/>
          </a:xfrm>
          <a:prstGeom prst="rect">
            <a:avLst/>
          </a:prstGeom>
          <a:noFill/>
          <a:ln/>
        </p:spPr>
        <p:txBody>
          <a:bodyPr wrap="square" lIns="170053" tIns="170053" rIns="8509" bIns="8509" rtlCol="0" anchor="ctr">
            <a:spAutoFit/>
          </a:bodyPr>
          <a:lstStyle/>
          <a:p>
            <a:pPr algn="l" indent="0" marL="0">
              <a:lnSpc>
                <a:spcPts val="1200"/>
              </a:lnSpc>
              <a:buNone/>
            </a:pPr>
            <a:r>
              <a:rPr lang="en-US" sz="942" dirty="0">
                <a:solidFill>
                  <a:srgbClr val="C9D1D9"/>
                </a:solidFill>
              </a:rPr>
              <a:t>メモリ管理の初期最適化、現状の課題抽出</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42072"/>
            <a:ext cx="8572500" cy="373261"/>
          </a:xfrm>
          <a:prstGeom prst="rect">
            <a:avLst/>
          </a:prstGeom>
          <a:noFill/>
          <a:ln/>
        </p:spPr>
        <p:txBody>
          <a:bodyPr wrap="none" lIns="170053" tIns="0" rIns="0" bIns="0" rtlCol="0" anchor="t">
            <a:spAutoFit/>
          </a:bodyPr>
          <a:lstStyle/>
          <a:p>
            <a:pPr algn="l" indent="0" marL="0">
              <a:lnSpc>
                <a:spcPts val="2400"/>
              </a:lnSpc>
              <a:buNone/>
            </a:pPr>
            <a:r>
              <a:rPr lang="en-US" sz="1808" b="1" spc="2" kern="0" dirty="0">
                <a:solidFill>
                  <a:srgbClr val="FFFFFF"/>
                </a:solidFill>
              </a:rPr>
              <a:t>アクション実装の現状：移動慣性の実現</a:t>
            </a:r>
            <a:endParaRPr lang="en-US" sz="1808" dirty="0"/>
          </a:p>
        </p:txBody>
      </p:sp>
      <p:pic>
        <p:nvPicPr>
          <p:cNvPr id="4" name="Image 1" descr="preencoded.png">    </p:cNvPr>
          <p:cNvPicPr>
            <a:picLocks noChangeAspect="1"/>
          </p:cNvPicPr>
          <p:nvPr/>
        </p:nvPicPr>
        <p:blipFill>
          <a:blip r:embed="rId2"/>
          <a:stretch>
            <a:fillRect/>
          </a:stretch>
        </p:blipFill>
        <p:spPr>
          <a:xfrm>
            <a:off x="578644" y="1236790"/>
            <a:ext cx="5000625" cy="2571750"/>
          </a:xfrm>
          <a:prstGeom prst="rect">
            <a:avLst/>
          </a:prstGeom>
        </p:spPr>
      </p:pic>
      <p:sp>
        <p:nvSpPr>
          <p:cNvPr id="5" name="Text 1"/>
          <p:cNvSpPr/>
          <p:nvPr/>
        </p:nvSpPr>
        <p:spPr>
          <a:xfrm>
            <a:off x="5743575" y="1308227"/>
            <a:ext cx="2828925"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Current Achievement</a:t>
            </a:r>
            <a:endParaRPr lang="en-US" sz="727" dirty="0"/>
          </a:p>
        </p:txBody>
      </p:sp>
      <p:sp>
        <p:nvSpPr>
          <p:cNvPr id="6" name="Text 2"/>
          <p:cNvSpPr/>
          <p:nvPr/>
        </p:nvSpPr>
        <p:spPr>
          <a:xfrm>
            <a:off x="5743575" y="1513610"/>
            <a:ext cx="110016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移動慣性の実装</a:t>
            </a:r>
            <a:endParaRPr lang="en-US" sz="1090" dirty="0"/>
          </a:p>
        </p:txBody>
      </p:sp>
      <p:sp>
        <p:nvSpPr>
          <p:cNvPr id="7" name="Shape 3"/>
          <p:cNvSpPr/>
          <p:nvPr/>
        </p:nvSpPr>
        <p:spPr>
          <a:xfrm>
            <a:off x="6915178" y="1566239"/>
            <a:ext cx="377977" cy="144661"/>
          </a:xfrm>
          <a:prstGeom prst="rect">
            <a:avLst/>
          </a:prstGeom>
          <a:solidFill>
            <a:srgbClr val="58A6FF">
              <a:alpha val="10000"/>
            </a:srgbClr>
          </a:solidFill>
          <a:ln w="9144">
            <a:solidFill>
              <a:srgbClr val="58A6FF"/>
            </a:solidFill>
            <a:prstDash val="solid"/>
          </a:ln>
        </p:spPr>
      </p:sp>
      <p:sp>
        <p:nvSpPr>
          <p:cNvPr id="8" name="Text 4"/>
          <p:cNvSpPr/>
          <p:nvPr/>
        </p:nvSpPr>
        <p:spPr>
          <a:xfrm>
            <a:off x="6915178" y="1566239"/>
            <a:ext cx="377977" cy="144661"/>
          </a:xfrm>
          <a:prstGeom prst="rect">
            <a:avLst/>
          </a:prstGeom>
          <a:noFill/>
          <a:ln/>
        </p:spPr>
        <p:txBody>
          <a:bodyPr wrap="none" lIns="68072" tIns="17018" rIns="68072" bIns="0" rtlCol="0" anchor="ctr">
            <a:spAutoFit/>
          </a:bodyPr>
          <a:lstStyle/>
          <a:p>
            <a:pPr algn="l" indent="0" marL="0">
              <a:lnSpc>
                <a:spcPts val="800"/>
              </a:lnSpc>
              <a:buNone/>
            </a:pPr>
            <a:r>
              <a:rPr lang="en-US" sz="584" b="1" dirty="0">
                <a:solidFill>
                  <a:srgbClr val="58A6FF"/>
                </a:solidFill>
              </a:rPr>
              <a:t>DONE</a:t>
            </a:r>
            <a:endParaRPr lang="en-US" sz="584" dirty="0"/>
          </a:p>
        </p:txBody>
      </p:sp>
      <p:sp>
        <p:nvSpPr>
          <p:cNvPr id="9" name="Text 5"/>
          <p:cNvSpPr/>
          <p:nvPr/>
        </p:nvSpPr>
        <p:spPr>
          <a:xfrm>
            <a:off x="5743575" y="1785072"/>
            <a:ext cx="2828925"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C9D1D9"/>
                </a:solidFill>
              </a:rPr>
              <a:t>キャラクターの移動に慣性処理を導入。急停止や方向転換時の挙動を自然にし、3Dアクションとしての手触りを向上させました。</a:t>
            </a:r>
            <a:endParaRPr lang="en-US" sz="834" dirty="0"/>
          </a:p>
        </p:txBody>
      </p:sp>
      <p:sp>
        <p:nvSpPr>
          <p:cNvPr id="10" name="Text 6"/>
          <p:cNvSpPr/>
          <p:nvPr/>
        </p:nvSpPr>
        <p:spPr>
          <a:xfrm>
            <a:off x="5743575" y="2483681"/>
            <a:ext cx="2828925"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Core Mechanics</a:t>
            </a:r>
            <a:endParaRPr lang="en-US" sz="727" dirty="0"/>
          </a:p>
        </p:txBody>
      </p:sp>
      <p:sp>
        <p:nvSpPr>
          <p:cNvPr id="11" name="Text 7"/>
          <p:cNvSpPr/>
          <p:nvPr/>
        </p:nvSpPr>
        <p:spPr>
          <a:xfrm>
            <a:off x="5743575" y="2676562"/>
            <a:ext cx="2828925" cy="226814"/>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剣劇アクションの基礎</a:t>
            </a:r>
            <a:endParaRPr lang="en-US" sz="1090" dirty="0"/>
          </a:p>
        </p:txBody>
      </p:sp>
      <p:sp>
        <p:nvSpPr>
          <p:cNvPr id="12" name="Text 8"/>
          <p:cNvSpPr/>
          <p:nvPr/>
        </p:nvSpPr>
        <p:spPr>
          <a:xfrm>
            <a:off x="5743575" y="2960526"/>
            <a:ext cx="2828925"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C9D1D9"/>
                </a:solidFill>
              </a:rPr>
              <a:t>「剣を振る」というアクションの根幹を実装。入力に対する即時的な反応と、慣性による滑らかな動きを両立させています。</a:t>
            </a:r>
            <a:endParaRPr lang="en-US" sz="834" dirty="0"/>
          </a:p>
        </p:txBody>
      </p:sp>
      <p:sp>
        <p:nvSpPr>
          <p:cNvPr id="13" name="Text 9"/>
          <p:cNvSpPr/>
          <p:nvPr/>
        </p:nvSpPr>
        <p:spPr>
          <a:xfrm>
            <a:off x="5743575" y="3659135"/>
            <a:ext cx="2828925"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Visual Status</a:t>
            </a:r>
            <a:endParaRPr lang="en-US" sz="727" dirty="0"/>
          </a:p>
        </p:txBody>
      </p:sp>
      <p:sp>
        <p:nvSpPr>
          <p:cNvPr id="14" name="Text 10"/>
          <p:cNvSpPr/>
          <p:nvPr/>
        </p:nvSpPr>
        <p:spPr>
          <a:xfrm>
            <a:off x="5743575" y="3852016"/>
            <a:ext cx="2828925" cy="226814"/>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装飾を排した核心構築</a:t>
            </a:r>
            <a:endParaRPr lang="en-US" sz="1090" dirty="0"/>
          </a:p>
        </p:txBody>
      </p:sp>
      <p:sp>
        <p:nvSpPr>
          <p:cNvPr id="15" name="Text 11"/>
          <p:cNvSpPr/>
          <p:nvPr/>
        </p:nvSpPr>
        <p:spPr>
          <a:xfrm>
            <a:off x="5743575" y="4135980"/>
            <a:ext cx="2828925"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C9D1D9"/>
                </a:solidFill>
              </a:rPr>
              <a:t>エフェクト等の演出は未実装ですが、DirectX 12環境下でアクションの「核心」となる動的な挙動を確立しました。</a:t>
            </a:r>
            <a:endParaRPr lang="en-US" sz="83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42072"/>
            <a:ext cx="8572500" cy="373261"/>
          </a:xfrm>
          <a:prstGeom prst="rect">
            <a:avLst/>
          </a:prstGeom>
          <a:noFill/>
          <a:ln/>
        </p:spPr>
        <p:txBody>
          <a:bodyPr wrap="none" lIns="170053" tIns="0" rIns="0" bIns="0" rtlCol="0" anchor="t">
            <a:spAutoFit/>
          </a:bodyPr>
          <a:lstStyle/>
          <a:p>
            <a:pPr algn="l" indent="0" marL="0">
              <a:lnSpc>
                <a:spcPts val="2400"/>
              </a:lnSpc>
              <a:buNone/>
            </a:pPr>
            <a:r>
              <a:rPr lang="en-US" sz="1808" b="1" spc="2" kern="0" dirty="0">
                <a:solidFill>
                  <a:srgbClr val="FFFFFF"/>
                </a:solidFill>
              </a:rPr>
              <a:t>技術的課題と最適化の現状</a:t>
            </a:r>
            <a:endParaRPr lang="en-US" sz="1808" dirty="0"/>
          </a:p>
        </p:txBody>
      </p:sp>
      <p:sp>
        <p:nvSpPr>
          <p:cNvPr id="4" name="Text 1"/>
          <p:cNvSpPr/>
          <p:nvPr/>
        </p:nvSpPr>
        <p:spPr>
          <a:xfrm>
            <a:off x="571500" y="1665415"/>
            <a:ext cx="2143125" cy="732904"/>
          </a:xfrm>
          <a:prstGeom prst="rect">
            <a:avLst/>
          </a:prstGeom>
          <a:noFill/>
          <a:ln/>
        </p:spPr>
        <p:txBody>
          <a:bodyPr wrap="square" lIns="0" tIns="0" rIns="0" bIns="0" rtlCol="0" anchor="t">
            <a:spAutoFit/>
          </a:bodyPr>
          <a:lstStyle/>
          <a:p>
            <a:pPr algn="l" indent="0" marL="0">
              <a:lnSpc>
                <a:spcPts val="900"/>
              </a:lnSpc>
              <a:buNone/>
            </a:pPr>
            <a:r>
              <a:rPr lang="en-US" sz="683" b="1" spc="2" kern="0" dirty="0">
                <a:solidFill>
                  <a:srgbClr val="58A6FF"/>
                </a:solidFill>
              </a:rPr>
              <a:t>Challenge 01</a:t>
            </a:r>
            <a:endParaRPr lang="en-US" sz="683" dirty="0"/>
          </a:p>
        </p:txBody>
      </p:sp>
      <p:sp>
        <p:nvSpPr>
          <p:cNvPr id="5" name="Text 2"/>
          <p:cNvSpPr/>
          <p:nvPr/>
        </p:nvSpPr>
        <p:spPr>
          <a:xfrm>
            <a:off x="3000375" y="1681488"/>
            <a:ext cx="1543050" cy="233958"/>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FFFFFF"/>
                </a:solidFill>
              </a:rPr>
              <a:t>メモリ管理の最適化</a:t>
            </a:r>
            <a:endParaRPr lang="en-US" sz="1269" dirty="0"/>
          </a:p>
        </p:txBody>
      </p:sp>
      <p:sp>
        <p:nvSpPr>
          <p:cNvPr id="6" name="Text 3"/>
          <p:cNvSpPr/>
          <p:nvPr/>
        </p:nvSpPr>
        <p:spPr>
          <a:xfrm>
            <a:off x="4614863" y="1740005"/>
            <a:ext cx="385790" cy="155377"/>
          </a:xfrm>
          <a:prstGeom prst="rect">
            <a:avLst/>
          </a:prstGeom>
          <a:noFill/>
          <a:ln/>
        </p:spPr>
        <p:txBody>
          <a:bodyPr wrap="square" lIns="68072" tIns="17018" rIns="68072" bIns="0" rtlCol="0" anchor="ctr">
            <a:spAutoFit/>
          </a:bodyPr>
          <a:lstStyle/>
          <a:p>
            <a:pPr algn="l" indent="0" marL="0">
              <a:lnSpc>
                <a:spcPts val="800"/>
              </a:lnSpc>
              <a:buNone/>
            </a:pPr>
            <a:r>
              <a:rPr lang="en-US" sz="621" dirty="0">
                <a:solidFill>
                  <a:srgbClr val="58A6FF"/>
                </a:solidFill>
              </a:rPr>
              <a:t>進行中</a:t>
            </a:r>
            <a:endParaRPr lang="en-US" sz="621" dirty="0"/>
          </a:p>
        </p:txBody>
      </p:sp>
      <p:sp>
        <p:nvSpPr>
          <p:cNvPr id="7" name="Text 4"/>
          <p:cNvSpPr/>
          <p:nvPr/>
        </p:nvSpPr>
        <p:spPr>
          <a:xfrm>
            <a:off x="3000375" y="1986883"/>
            <a:ext cx="557212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B0B0C0"/>
                </a:solidFill>
              </a:rPr>
              <a:t>初期的なメモリ最適化は実施済みですが、効率的なリソース再利用やバリア制御の徹底には、さらなる改善の余地が残されています。</a:t>
            </a:r>
            <a:endParaRPr lang="en-US" sz="942" dirty="0"/>
          </a:p>
        </p:txBody>
      </p:sp>
      <p:sp>
        <p:nvSpPr>
          <p:cNvPr id="8" name="Text 5"/>
          <p:cNvSpPr/>
          <p:nvPr/>
        </p:nvSpPr>
        <p:spPr>
          <a:xfrm>
            <a:off x="571500" y="2905525"/>
            <a:ext cx="2143125" cy="732904"/>
          </a:xfrm>
          <a:prstGeom prst="rect">
            <a:avLst/>
          </a:prstGeom>
          <a:noFill/>
          <a:ln/>
        </p:spPr>
        <p:txBody>
          <a:bodyPr wrap="square" lIns="0" tIns="0" rIns="0" bIns="0" rtlCol="0" anchor="t">
            <a:spAutoFit/>
          </a:bodyPr>
          <a:lstStyle/>
          <a:p>
            <a:pPr algn="l" indent="0" marL="0">
              <a:lnSpc>
                <a:spcPts val="900"/>
              </a:lnSpc>
              <a:buNone/>
            </a:pPr>
            <a:r>
              <a:rPr lang="en-US" sz="683" b="1" spc="2" kern="0" dirty="0">
                <a:solidFill>
                  <a:srgbClr val="58A6FF"/>
                </a:solidFill>
              </a:rPr>
              <a:t>Challenge 02</a:t>
            </a:r>
            <a:endParaRPr lang="en-US" sz="683" dirty="0"/>
          </a:p>
        </p:txBody>
      </p:sp>
      <p:sp>
        <p:nvSpPr>
          <p:cNvPr id="9" name="Text 6"/>
          <p:cNvSpPr/>
          <p:nvPr/>
        </p:nvSpPr>
        <p:spPr>
          <a:xfrm>
            <a:off x="3000375" y="2905525"/>
            <a:ext cx="5572125" cy="250031"/>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FFFFFF"/>
                </a:solidFill>
              </a:rPr>
              <a:t>シングルスレッドによる実装制限</a:t>
            </a:r>
            <a:endParaRPr lang="en-US" sz="1269" dirty="0"/>
          </a:p>
        </p:txBody>
      </p:sp>
      <p:sp>
        <p:nvSpPr>
          <p:cNvPr id="10" name="Text 7"/>
          <p:cNvSpPr/>
          <p:nvPr/>
        </p:nvSpPr>
        <p:spPr>
          <a:xfrm>
            <a:off x="3000375" y="3226994"/>
            <a:ext cx="557212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B0B0C0"/>
                </a:solidFill>
              </a:rPr>
              <a:t>現在はメインスレッドのみで動作しており、DirectX 12の強みであるマルチスレッドによるコマンド記録の並列化が今後の大きな課題です。</a:t>
            </a:r>
            <a:endParaRPr lang="en-US" sz="942" dirty="0"/>
          </a:p>
        </p:txBody>
      </p:sp>
      <p:sp>
        <p:nvSpPr>
          <p:cNvPr id="11" name="Text 8"/>
          <p:cNvSpPr/>
          <p:nvPr/>
        </p:nvSpPr>
        <p:spPr>
          <a:xfrm>
            <a:off x="571500" y="4145635"/>
            <a:ext cx="2143125" cy="732904"/>
          </a:xfrm>
          <a:prstGeom prst="rect">
            <a:avLst/>
          </a:prstGeom>
          <a:noFill/>
          <a:ln/>
        </p:spPr>
        <p:txBody>
          <a:bodyPr wrap="square" lIns="0" tIns="0" rIns="0" bIns="0" rtlCol="0" anchor="t">
            <a:spAutoFit/>
          </a:bodyPr>
          <a:lstStyle/>
          <a:p>
            <a:pPr algn="l" indent="0" marL="0">
              <a:lnSpc>
                <a:spcPts val="900"/>
              </a:lnSpc>
              <a:buNone/>
            </a:pPr>
            <a:r>
              <a:rPr lang="en-US" sz="683" b="1" spc="2" kern="0" dirty="0">
                <a:solidFill>
                  <a:srgbClr val="58A6FF"/>
                </a:solidFill>
              </a:rPr>
              <a:t>Challenge 03</a:t>
            </a:r>
            <a:endParaRPr lang="en-US" sz="683" dirty="0"/>
          </a:p>
        </p:txBody>
      </p:sp>
      <p:sp>
        <p:nvSpPr>
          <p:cNvPr id="12" name="Text 9"/>
          <p:cNvSpPr/>
          <p:nvPr/>
        </p:nvSpPr>
        <p:spPr>
          <a:xfrm>
            <a:off x="3000375" y="4145635"/>
            <a:ext cx="5572125" cy="250031"/>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FFFFFF"/>
                </a:solidFill>
              </a:rPr>
              <a:t>描画演出の拡張基盤</a:t>
            </a:r>
            <a:endParaRPr lang="en-US" sz="1269" dirty="0"/>
          </a:p>
        </p:txBody>
      </p:sp>
      <p:sp>
        <p:nvSpPr>
          <p:cNvPr id="13" name="Text 10"/>
          <p:cNvSpPr/>
          <p:nvPr/>
        </p:nvSpPr>
        <p:spPr>
          <a:xfrm>
            <a:off x="3000375" y="4467104"/>
            <a:ext cx="557212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B0B0C0"/>
                </a:solidFill>
              </a:rPr>
              <a:t>基盤の安定動作は確認できましたが、エフェクト等の視覚演出は未実装です。最適化を進めつつ、表現力の向上を目指します。</a:t>
            </a:r>
            <a:endParaRPr lang="en-US" sz="94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634929"/>
            <a:ext cx="8572500" cy="373261"/>
          </a:xfrm>
          <a:prstGeom prst="rect">
            <a:avLst/>
          </a:prstGeom>
          <a:noFill/>
          <a:ln/>
        </p:spPr>
        <p:txBody>
          <a:bodyPr wrap="none" lIns="170053" tIns="0" rIns="0" bIns="0" rtlCol="0" anchor="t">
            <a:spAutoFit/>
          </a:bodyPr>
          <a:lstStyle/>
          <a:p>
            <a:pPr algn="l" indent="0" marL="0">
              <a:lnSpc>
                <a:spcPts val="2400"/>
              </a:lnSpc>
              <a:buNone/>
            </a:pPr>
            <a:r>
              <a:rPr lang="en-US" sz="1808" b="1" spc="2" kern="0" dirty="0">
                <a:solidFill>
                  <a:srgbClr val="FFFFFF"/>
                </a:solidFill>
              </a:rPr>
              <a:t>総括と次なるステップ</a:t>
            </a:r>
            <a:endParaRPr lang="en-US" sz="1808" dirty="0"/>
          </a:p>
        </p:txBody>
      </p:sp>
      <p:sp>
        <p:nvSpPr>
          <p:cNvPr id="4" name="Shape 1"/>
          <p:cNvSpPr/>
          <p:nvPr/>
        </p:nvSpPr>
        <p:spPr>
          <a:xfrm>
            <a:off x="571500" y="1436815"/>
            <a:ext cx="8001000" cy="1225851"/>
          </a:xfrm>
          <a:prstGeom prst="rect">
            <a:avLst/>
          </a:prstGeom>
          <a:solidFill>
            <a:srgbClr val="58A6FF">
              <a:alpha val="5000"/>
            </a:srgbClr>
          </a:solidFill>
          <a:ln w="9144">
            <a:solidFill>
              <a:srgbClr val="30363D"/>
            </a:solidFill>
            <a:prstDash val="solid"/>
          </a:ln>
        </p:spPr>
      </p:sp>
      <p:sp>
        <p:nvSpPr>
          <p:cNvPr id="5" name="Text 2"/>
          <p:cNvSpPr/>
          <p:nvPr/>
        </p:nvSpPr>
        <p:spPr>
          <a:xfrm>
            <a:off x="857250" y="1722565"/>
            <a:ext cx="7429500" cy="925813"/>
          </a:xfrm>
          <a:prstGeom prst="rect">
            <a:avLst/>
          </a:prstGeom>
          <a:noFill/>
          <a:ln/>
        </p:spPr>
        <p:txBody>
          <a:bodyPr wrap="square" lIns="0" tIns="0" rIns="0" bIns="0" rtlCol="0" anchor="t">
            <a:spAutoFit/>
          </a:bodyPr>
          <a:lstStyle/>
          <a:p>
            <a:pPr algn="l" indent="0" marL="0">
              <a:lnSpc>
                <a:spcPts val="2400"/>
              </a:lnSpc>
              <a:buNone/>
            </a:pPr>
            <a:r>
              <a:rPr lang="en-US" sz="1269" i="1" dirty="0">
                <a:solidFill>
                  <a:srgbClr val="FFFFFF"/>
                </a:solidFill>
              </a:rPr>
              <a:t>「この5週間は、未知の技術であるDirectX 12との格闘の連続でした。慣性の導入やメモリ最適化の着手など、土台作りにおいて確かな一歩を刻みました。この経験を糧に、さらなる高みを目指します。」</a:t>
            </a:r>
            <a:endParaRPr lang="en-US" sz="1269" dirty="0"/>
          </a:p>
        </p:txBody>
      </p:sp>
      <p:sp>
        <p:nvSpPr>
          <p:cNvPr id="6" name="Text 3"/>
          <p:cNvSpPr/>
          <p:nvPr/>
        </p:nvSpPr>
        <p:spPr>
          <a:xfrm>
            <a:off x="571500" y="3234165"/>
            <a:ext cx="378618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58A6FF"/>
                </a:solidFill>
              </a:rPr>
              <a:t>Next Technical Goal</a:t>
            </a:r>
            <a:endParaRPr lang="en-US" sz="987" dirty="0"/>
          </a:p>
        </p:txBody>
      </p:sp>
      <p:sp>
        <p:nvSpPr>
          <p:cNvPr id="7" name="Text 4"/>
          <p:cNvSpPr/>
          <p:nvPr/>
        </p:nvSpPr>
        <p:spPr>
          <a:xfrm>
            <a:off x="571500" y="3535989"/>
            <a:ext cx="3786188"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C9D1D9"/>
                </a:solidFill>
              </a:rPr>
              <a:t>シングルスレッド実装からマルチスレッド化への移行。コマンドリストの並列記録を実装し、DX12の真の性能を引き出します。</a:t>
            </a:r>
            <a:endParaRPr lang="en-US" sz="834" dirty="0"/>
          </a:p>
        </p:txBody>
      </p:sp>
      <p:sp>
        <p:nvSpPr>
          <p:cNvPr id="8" name="Text 5"/>
          <p:cNvSpPr/>
          <p:nvPr/>
        </p:nvSpPr>
        <p:spPr>
          <a:xfrm>
            <a:off x="4786313" y="3234165"/>
            <a:ext cx="378618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58A6FF"/>
                </a:solidFill>
              </a:rPr>
              <a:t>Memory Optimization</a:t>
            </a:r>
            <a:endParaRPr lang="en-US" sz="987" dirty="0"/>
          </a:p>
        </p:txBody>
      </p:sp>
      <p:sp>
        <p:nvSpPr>
          <p:cNvPr id="9" name="Text 6"/>
          <p:cNvSpPr/>
          <p:nvPr/>
        </p:nvSpPr>
        <p:spPr>
          <a:xfrm>
            <a:off x="4786313" y="3535989"/>
            <a:ext cx="3786188"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C9D1D9"/>
                </a:solidFill>
              </a:rPr>
              <a:t>メモリ管理のさらなる徹底。リソースの再利用効率を高め、バリア制御を最適化することで、描画パフォーマンスを極限まで高めます。</a:t>
            </a:r>
            <a:endParaRPr lang="en-US" sz="834" dirty="0"/>
          </a:p>
        </p:txBody>
      </p:sp>
      <p:sp>
        <p:nvSpPr>
          <p:cNvPr id="10" name="Text 7"/>
          <p:cNvSpPr/>
          <p:nvPr/>
        </p:nvSpPr>
        <p:spPr>
          <a:xfrm>
            <a:off x="6131068" y="4714875"/>
            <a:ext cx="2441432" cy="135731"/>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58A6FF"/>
                </a:solidFill>
              </a:rPr>
              <a:t>FIRST SWORD PROJECT | END OF REPORT</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2026-02-01T11:35:27Z</dcterms:created>
  <dcterms:modified xsi:type="dcterms:W3CDTF">2026-02-01T11:35:27Z</dcterms:modified>
</cp:coreProperties>
</file>